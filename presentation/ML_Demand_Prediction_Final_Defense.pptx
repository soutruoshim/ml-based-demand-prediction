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4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17320"/>
            <a:ext cx="1069848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Machine Learning-Based Demand Prediction</a:t>
            </a:r>
          </a:p>
          <a:p>
            <a:pPr algn="ctr">
              <a:defRPr sz="2400">
                <a:solidFill>
                  <a:srgbClr val="64CCC5"/>
                </a:solidFill>
              </a:defRPr>
            </a:pPr>
            <a:r>
              <a:t>Factory Production Planning for Shampoo, Body Wash, and Laundry Detergent</a:t>
            </a:r>
          </a:p>
          <a:p>
            <a:pPr algn="ctr">
              <a:spcBef>
                <a:spcPts val="3200"/>
              </a:spcBef>
              <a:defRPr sz="1800">
                <a:solidFill>
                  <a:srgbClr val="FFFFFF"/>
                </a:solidFill>
              </a:defRPr>
            </a:pPr>
            <a:r>
              <a:t>Group 16 · SOUT RAHIM · Norton University ·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3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Problem and 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800"/>
              </a:spcAft>
              <a:defRPr sz="2300">
                <a:solidFill>
                  <a:srgbClr val="464E56"/>
                </a:solidFill>
              </a:defRPr>
            </a:pPr>
            <a:r>
              <a:t>Overproduction raises inventory and storage costs; underproduction risks stockouts and missed sales.</a:t>
            </a:r>
          </a:p>
          <a:p>
            <a:pPr>
              <a:spcAft>
                <a:spcPts val="1800"/>
              </a:spcAft>
              <a:defRPr sz="2300">
                <a:solidFill>
                  <a:srgbClr val="464E56"/>
                </a:solidFill>
              </a:defRPr>
            </a:pPr>
            <a:r>
              <a:t>Goal: predict next-month demand and translate the forecast into a clear production recommendation.</a:t>
            </a:r>
          </a:p>
          <a:p>
            <a:pPr>
              <a:spcAft>
                <a:spcPts val="1800"/>
              </a:spcAft>
              <a:defRPr sz="2300">
                <a:solidFill>
                  <a:srgbClr val="464E56"/>
                </a:solidFill>
              </a:defRPr>
            </a:pPr>
            <a:r>
              <a:t>Scope: Shampoo, Body Wash, and Laundry Detergent.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8076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176B87"/>
                </a:solidFill>
              </a:defRPr>
            </a:pPr>
            <a:r>
              <a:t>Supervised machine-learning regression project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3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Data and Academic Integrity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800"/>
              </a:spcAft>
              <a:defRPr sz="2300">
                <a:solidFill>
                  <a:srgbClr val="464E56"/>
                </a:solidFill>
              </a:defRPr>
            </a:pPr>
            <a:r>
              <a:t>177 monthly product records: February 2021–December 2025.</a:t>
            </a:r>
          </a:p>
          <a:p>
            <a:pPr>
              <a:spcAft>
                <a:spcPts val="1800"/>
              </a:spcAft>
              <a:defRPr sz="2300">
                <a:solidFill>
                  <a:srgbClr val="464E56"/>
                </a:solidFill>
              </a:defRPr>
            </a:pPr>
            <a:r>
              <a:t>Features: product, month/season, previous sales, stock, price, promotion, customer orders, and previous production.</a:t>
            </a:r>
          </a:p>
          <a:p>
            <a:pPr>
              <a:spcAft>
                <a:spcPts val="1800"/>
              </a:spcAft>
              <a:defRPr sz="2300">
                <a:solidFill>
                  <a:srgbClr val="464E56"/>
                </a:solidFill>
              </a:defRPr>
            </a:pPr>
            <a:r>
              <a:t>The dataset is synthetic and is used only to demonstrate the workflow; it is not evidence of actual Medtherm demand.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8076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176B87"/>
                </a:solidFill>
              </a:defRPr>
            </a:pPr>
            <a:r>
              <a:t>Replace the CSV with authorized factory records before operational use.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3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800"/>
              </a:spcAft>
              <a:defRPr sz="2300">
                <a:solidFill>
                  <a:srgbClr val="464E56"/>
                </a:solidFill>
              </a:defRPr>
            </a:pPr>
            <a:r>
              <a:t>Sort observations by month and reserve the latest 20% as a holdout test period (141 train / 36 test).</a:t>
            </a:r>
          </a:p>
          <a:p>
            <a:pPr>
              <a:spcAft>
                <a:spcPts val="1800"/>
              </a:spcAft>
              <a:defRPr sz="2300">
                <a:solidFill>
                  <a:srgbClr val="464E56"/>
                </a:solidFill>
              </a:defRPr>
            </a:pPr>
            <a:r>
              <a:t>Fit imputation, one-hot encoding, and scaling only on training data to prevent leakage.</a:t>
            </a:r>
          </a:p>
          <a:p>
            <a:pPr>
              <a:spcAft>
                <a:spcPts val="1800"/>
              </a:spcAft>
              <a:defRPr sz="2300">
                <a:solidFill>
                  <a:srgbClr val="464E56"/>
                </a:solidFill>
              </a:defRPr>
            </a:pPr>
            <a:r>
              <a:t>Compare Linear Regression, Decision Tree, and Random Forest on identical data.</a:t>
            </a:r>
          </a:p>
          <a:p>
            <a:pPr>
              <a:spcAft>
                <a:spcPts val="1800"/>
              </a:spcAft>
              <a:defRPr sz="2300">
                <a:solidFill>
                  <a:srgbClr val="464E56"/>
                </a:solidFill>
              </a:defRPr>
            </a:pPr>
            <a:r>
              <a:t>Select the lowest-RMSE model; verify with MAE and R².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3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Model Comparison</a:t>
            </a:r>
          </a:p>
        </p:txBody>
      </p:sp>
      <p:pic>
        <p:nvPicPr>
          <p:cNvPr id="4" name="Picture 3" descr="model_rm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932688"/>
            <a:ext cx="9509760" cy="5257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26364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464E56"/>
                </a:solidFill>
              </a:defRPr>
            </a:pPr>
            <a:r>
              <a:t>Selected model: Linear Regression · MAE 379.3 · RMSE 505.4 · R² 0.977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3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Prediction Quality</a:t>
            </a:r>
          </a:p>
        </p:txBody>
      </p:sp>
      <p:pic>
        <p:nvPicPr>
          <p:cNvPr id="4" name="Picture 3" descr="actual_vs_predi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932688"/>
            <a:ext cx="9509760" cy="5257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26364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464E56"/>
                </a:solidFill>
              </a:defRPr>
            </a:pPr>
            <a:r>
              <a:t>Held-out observations near the diagonal indicate closer predictions.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3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Demand Trends</a:t>
            </a:r>
          </a:p>
        </p:txBody>
      </p:sp>
      <p:pic>
        <p:nvPicPr>
          <p:cNvPr id="4" name="Picture 3" descr="demand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932688"/>
            <a:ext cx="9509760" cy="5257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26364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464E56"/>
                </a:solidFill>
              </a:defRPr>
            </a:pPr>
            <a:r>
              <a:t>Actual and predicted demand across the final 12 held-out months.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3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What Drives the Forecast?</a:t>
            </a:r>
          </a:p>
        </p:txBody>
      </p:sp>
      <p:pic>
        <p:nvPicPr>
          <p:cNvPr id="4" name="Picture 3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932688"/>
            <a:ext cx="9509760" cy="5257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26364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464E56"/>
                </a:solidFill>
              </a:defRPr>
            </a:pPr>
            <a:r>
              <a:t>Permutation importance measures the increase in error when each feature is shuffled.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3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Production Planning Rule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800"/>
              </a:spcAft>
              <a:defRPr sz="2300">
                <a:solidFill>
                  <a:srgbClr val="464E56"/>
                </a:solidFill>
              </a:defRPr>
            </a:pPr>
            <a:r>
              <a:t>Recommended production = max(0, predicted demand + 10% safety stock − current stock).</a:t>
            </a:r>
          </a:p>
          <a:p>
            <a:pPr>
              <a:spcAft>
                <a:spcPts val="1800"/>
              </a:spcAft>
              <a:defRPr sz="2300">
                <a:solidFill>
                  <a:srgbClr val="464E56"/>
                </a:solidFill>
              </a:defRPr>
            </a:pPr>
            <a:r>
              <a:t>Shampoo: predict 3,409; recommend 3,397 units</a:t>
            </a:r>
          </a:p>
          <a:p>
            <a:pPr>
              <a:spcAft>
                <a:spcPts val="1800"/>
              </a:spcAft>
              <a:defRPr sz="2300">
                <a:solidFill>
                  <a:srgbClr val="464E56"/>
                </a:solidFill>
              </a:defRPr>
            </a:pPr>
            <a:r>
              <a:t>Body Wash: predict 2,357; recommend 2,492 units</a:t>
            </a:r>
          </a:p>
          <a:p>
            <a:pPr>
              <a:spcAft>
                <a:spcPts val="1800"/>
              </a:spcAft>
              <a:defRPr sz="2300">
                <a:solidFill>
                  <a:srgbClr val="464E56"/>
                </a:solidFill>
              </a:defRPr>
            </a:pPr>
            <a:r>
              <a:t>Laundry Detergent: predict 2,789; recommend 2,677 units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8076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176B87"/>
                </a:solidFill>
              </a:defRPr>
            </a:pPr>
            <a:r>
              <a:t>Illustrative January 2026 scenario; the safety factor is a demonstration policy, not an optimized factory rule.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3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Practical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800"/>
              </a:spcAft>
              <a:defRPr sz="2300">
                <a:solidFill>
                  <a:srgbClr val="464E56"/>
                </a:solidFill>
              </a:defRPr>
            </a:pPr>
            <a:r>
              <a:t>Managers receive a repeatable forecast instead of relying only on experience or simple averages.</a:t>
            </a:r>
          </a:p>
          <a:p>
            <a:pPr>
              <a:spcAft>
                <a:spcPts val="1800"/>
              </a:spcAft>
              <a:defRPr sz="2300">
                <a:solidFill>
                  <a:srgbClr val="464E56"/>
                </a:solidFill>
              </a:defRPr>
            </a:pPr>
            <a:r>
              <a:t>Production teams can prepare materials and schedules earlier.</a:t>
            </a:r>
          </a:p>
          <a:p>
            <a:pPr>
              <a:spcAft>
                <a:spcPts val="1800"/>
              </a:spcAft>
              <a:defRPr sz="2300">
                <a:solidFill>
                  <a:srgbClr val="464E56"/>
                </a:solidFill>
              </a:defRPr>
            </a:pPr>
            <a:r>
              <a:t>Sales and inventory teams can review demand, stock, and orders in one planning output.</a:t>
            </a:r>
          </a:p>
          <a:p>
            <a:pPr>
              <a:spcAft>
                <a:spcPts val="1800"/>
              </a:spcAft>
              <a:defRPr sz="2300">
                <a:solidFill>
                  <a:srgbClr val="464E56"/>
                </a:solidFill>
              </a:defRPr>
            </a:pPr>
            <a:r>
              <a:t>Human approval remains essential because capacity, lead time, and batch constraints are not modeled.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3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Limitations and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800"/>
              </a:spcAft>
              <a:defRPr sz="2300">
                <a:solidFill>
                  <a:srgbClr val="464E56"/>
                </a:solidFill>
              </a:defRPr>
            </a:pPr>
            <a:r>
              <a:t>Synthetic, small dataset with only three product categories.</a:t>
            </a:r>
          </a:p>
          <a:p>
            <a:pPr>
              <a:spcAft>
                <a:spcPts val="1800"/>
              </a:spcAft>
              <a:defRPr sz="2300">
                <a:solidFill>
                  <a:srgbClr val="464E56"/>
                </a:solidFill>
              </a:defRPr>
            </a:pPr>
            <a:r>
              <a:t>External drivers such as holidays, channels, competitor activity, and weather are absent.</a:t>
            </a:r>
          </a:p>
          <a:p>
            <a:pPr>
              <a:spcAft>
                <a:spcPts val="1800"/>
              </a:spcAft>
              <a:defRPr sz="2300">
                <a:solidFill>
                  <a:srgbClr val="464E56"/>
                </a:solidFill>
              </a:defRPr>
            </a:pPr>
            <a:r>
              <a:t>Next: use authorized factory data, time-series cross-validation, tuned models, prediction intervals, and capacity-aware optimization.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3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800"/>
              </a:spcAft>
              <a:defRPr sz="2300">
                <a:solidFill>
                  <a:srgbClr val="464E56"/>
                </a:solidFill>
              </a:defRPr>
            </a:pPr>
            <a:r>
              <a:t>A complete, reproducible regression workflow was implemented and evaluated.</a:t>
            </a:r>
          </a:p>
          <a:p>
            <a:pPr>
              <a:spcAft>
                <a:spcPts val="1800"/>
              </a:spcAft>
              <a:defRPr sz="2300">
                <a:solidFill>
                  <a:srgbClr val="464E56"/>
                </a:solidFill>
              </a:defRPr>
            </a:pPr>
            <a:r>
              <a:t>Linear Regression achieved the best synthetic holdout RMSE (505.4 units).</a:t>
            </a:r>
          </a:p>
          <a:p>
            <a:pPr>
              <a:spcAft>
                <a:spcPts val="1800"/>
              </a:spcAft>
              <a:defRPr sz="2300">
                <a:solidFill>
                  <a:srgbClr val="464E56"/>
                </a:solidFill>
              </a:defRPr>
            </a:pPr>
            <a:r>
              <a:t>The project demonstrates how forecasts can support production decisions while clearly separating demonstration evidence from real factory claims.</a:t>
            </a:r>
          </a:p>
          <a:p>
            <a:pPr>
              <a:spcAft>
                <a:spcPts val="1800"/>
              </a:spcAft>
              <a:defRPr sz="2300">
                <a:solidFill>
                  <a:srgbClr val="464E56"/>
                </a:solidFill>
              </a:defRPr>
            </a:pPr>
            <a: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8076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176B87"/>
                </a:solidFill>
              </a:defRPr>
            </a:pPr>
            <a:r>
              <a:t>All code, data, outputs, figures, and the paper are included in the submission folder.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